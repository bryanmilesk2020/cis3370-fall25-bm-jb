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33" Type="http://schemas.openxmlformats.org/officeDocument/2006/relationships/font" Target="fonts/PoppinsSemiBold-boldItalic.fntdata"/><Relationship Id="rId32" Type="http://schemas.openxmlformats.org/officeDocument/2006/relationships/font" Target="fonts/PoppinsSemiBold-italic.fntdata"/><Relationship Id="rId35" Type="http://schemas.openxmlformats.org/officeDocument/2006/relationships/font" Target="fonts/RobotoMono-bold.fntdata"/><Relationship Id="rId34" Type="http://schemas.openxmlformats.org/officeDocument/2006/relationships/font" Target="fonts/RobotoMono-regular.fntdata"/><Relationship Id="rId37" Type="http://schemas.openxmlformats.org/officeDocument/2006/relationships/font" Target="fonts/RobotoMono-boldItalic.fntdata"/><Relationship Id="rId36" Type="http://schemas.openxmlformats.org/officeDocument/2006/relationships/font" Target="fonts/RobotoMono-italic.fntdata"/><Relationship Id="rId20" Type="http://schemas.openxmlformats.org/officeDocument/2006/relationships/font" Target="fonts/Poppins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29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605a617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a605a617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605a617aa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a605a617aa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605a617aa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605a617aa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a6018b3b8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a6018b3b8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5da602ae7a752e0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5da602ae7a752e0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5da602ae7a752e0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5da602ae7a752e0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5da602ae7a752e0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5da602ae7a752e0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5da602ae7a752e0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5da602ae7a752e0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5da602ae7a752e0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5da602ae7a752e0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5da602ae7a752e05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5da602ae7a752e05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5da602ae7a752e05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5da602ae7a752e05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latin typeface="Arial"/>
                <a:ea typeface="Arial"/>
                <a:cs typeface="Arial"/>
                <a:sym typeface="Arial"/>
              </a:rPr>
              <a:t>CIS 3370 IDS Final Project: Encrypted Traffic Analysis for Malware Detection</a:t>
            </a:r>
            <a:endParaRPr sz="3900"/>
          </a:p>
        </p:txBody>
      </p:sp>
      <p:sp>
        <p:nvSpPr>
          <p:cNvPr id="619" name="Google Shape;619;p66"/>
          <p:cNvSpPr txBox="1"/>
          <p:nvPr/>
        </p:nvSpPr>
        <p:spPr>
          <a:xfrm>
            <a:off x="4126325" y="3612500"/>
            <a:ext cx="46560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By Jacob Blanco and Bryan Mileski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25" name="Google Shape;625;p6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26" name="Google Shape;626;p67"/>
          <p:cNvSpPr txBox="1"/>
          <p:nvPr>
            <p:ph idx="3" type="body"/>
          </p:nvPr>
        </p:nvSpPr>
        <p:spPr>
          <a:xfrm>
            <a:off x="286425" y="2475750"/>
            <a:ext cx="4290600" cy="2489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Environment: Kali Linux Virtual Machine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Dataset: UNB CIC-IDS-2018 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PCAP files from Thursday-15-02-2018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Tools: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Zeek - for network traffic logs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Google Colab and Jupyter Notebook - write a script to organize log data and create a ML model that can make predictions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Elasticsearch and Kibana - ingesting ML model predictions and visualize the data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Github - </a:t>
            </a:r>
            <a:r>
              <a:rPr lang="en"/>
              <a:t>collaborate</a:t>
            </a:r>
            <a:r>
              <a:rPr lang="en"/>
              <a:t> and document the project</a:t>
            </a:r>
            <a:endParaRPr/>
          </a:p>
        </p:txBody>
      </p:sp>
      <p:sp>
        <p:nvSpPr>
          <p:cNvPr id="627" name="Google Shape;627;p6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</a:t>
            </a:r>
            <a:r>
              <a:rPr lang="en"/>
              <a:t>:</a:t>
            </a:r>
            <a:endParaRPr/>
          </a:p>
        </p:txBody>
      </p:sp>
      <p:sp>
        <p:nvSpPr>
          <p:cNvPr id="628" name="Google Shape;628;p6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 and Setup</a:t>
            </a:r>
            <a:endParaRPr/>
          </a:p>
        </p:txBody>
      </p:sp>
      <p:sp>
        <p:nvSpPr>
          <p:cNvPr id="629" name="Google Shape;629;p6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30" name="Google Shape;630;p67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a silhouette of a cat with a tail in a black circle (Provided by Tenor)" id="631" name="Google Shape;63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075" y="2475750"/>
            <a:ext cx="1020724" cy="102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300" y="396861"/>
            <a:ext cx="2554250" cy="8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3325" y="1551778"/>
            <a:ext cx="1603800" cy="91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7950" y="2779475"/>
            <a:ext cx="1454250" cy="145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5120" y="3715670"/>
            <a:ext cx="1301075" cy="11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8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Zeek Log Extraction</a:t>
            </a:r>
            <a:endParaRPr sz="2700"/>
          </a:p>
        </p:txBody>
      </p:sp>
      <p:sp>
        <p:nvSpPr>
          <p:cNvPr id="641" name="Google Shape;641;p68"/>
          <p:cNvSpPr txBox="1"/>
          <p:nvPr>
            <p:ph idx="1" type="body"/>
          </p:nvPr>
        </p:nvSpPr>
        <p:spPr>
          <a:xfrm>
            <a:off x="286425" y="2475750"/>
            <a:ext cx="6008400" cy="233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Used Zeek to monitor live network traffic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Generated structured log files such as: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conn.log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(connections)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http.log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(web traffic)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dns.log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(DNS queries)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Extracted logs into CSV format for further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Transform raw network traffic into structured, analyzable security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Enable detection of suspicious network behavior at scale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hands, books, tablets, and laptops on a long table. " id="642" name="Google Shape;642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000" r="22005" t="0"/>
          <a:stretch/>
        </p:blipFill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pic>
      <p:sp>
        <p:nvSpPr>
          <p:cNvPr id="643" name="Google Shape;643;p6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2:</a:t>
            </a:r>
            <a:endParaRPr/>
          </a:p>
        </p:txBody>
      </p:sp>
      <p:sp>
        <p:nvSpPr>
          <p:cNvPr id="644" name="Google Shape;644;p68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45" name="Google Shape;645;p68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46" name="Google Shape;646;p68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47" name="Google Shape;647;p68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9"/>
          <p:cNvSpPr txBox="1"/>
          <p:nvPr>
            <p:ph idx="1" type="body"/>
          </p:nvPr>
        </p:nvSpPr>
        <p:spPr>
          <a:xfrm>
            <a:off x="286425" y="2475750"/>
            <a:ext cx="58551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How We Parsed the Data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Converted Zeek logs into structured tables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Cleaned and normalized fields (timestamps, bytes, protocols)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Prepared the dataset for: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Machine learning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Visualization in Elastic / dashboards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Created a clean, structured dataset ready for: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Security 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Threat detection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Traffic visualization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69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sp>
      <p:sp>
        <p:nvSpPr>
          <p:cNvPr id="654" name="Google Shape;654;p6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2:</a:t>
            </a:r>
            <a:endParaRPr/>
          </a:p>
        </p:txBody>
      </p:sp>
      <p:sp>
        <p:nvSpPr>
          <p:cNvPr id="655" name="Google Shape;655;p69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Parsing</a:t>
            </a:r>
            <a:endParaRPr/>
          </a:p>
        </p:txBody>
      </p:sp>
      <p:sp>
        <p:nvSpPr>
          <p:cNvPr id="656" name="Google Shape;656;p69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69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69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&amp; data processing</a:t>
            </a:r>
            <a:endParaRPr/>
          </a:p>
        </p:txBody>
      </p:sp>
      <p:sp>
        <p:nvSpPr>
          <p:cNvPr id="664" name="Google Shape;664;p70"/>
          <p:cNvSpPr txBox="1"/>
          <p:nvPr>
            <p:ph idx="3" type="body"/>
          </p:nvPr>
        </p:nvSpPr>
        <p:spPr>
          <a:xfrm>
            <a:off x="329575" y="2900575"/>
            <a:ext cx="4290600" cy="210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created a Jupyter Notebook in Google Colab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loads zeeklogs.zip and unzips the files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merges conn_df and ssl_df into a sessions DataFrame, combining both information from both logs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Engineers new features, which are later ingested into the ML model for predictions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Heuristic Labeling - labels connections or traffic with the top 5% longest duration/largest bytes as malicious</a:t>
            </a:r>
            <a:endParaRPr/>
          </a:p>
        </p:txBody>
      </p:sp>
      <p:sp>
        <p:nvSpPr>
          <p:cNvPr id="665" name="Google Shape;665;p7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3: </a:t>
            </a:r>
            <a:endParaRPr/>
          </a:p>
        </p:txBody>
      </p:sp>
      <p:sp>
        <p:nvSpPr>
          <p:cNvPr id="666" name="Google Shape;666;p7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67" name="Google Shape;667;p7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68" name="Google Shape;668;p70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74" name="Google Shape;674;p71"/>
          <p:cNvSpPr txBox="1"/>
          <p:nvPr>
            <p:ph idx="2" type="subTitle"/>
          </p:nvPr>
        </p:nvSpPr>
        <p:spPr>
          <a:xfrm>
            <a:off x="6217763" y="141465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1"/>
          <p:cNvSpPr txBox="1"/>
          <p:nvPr>
            <p:ph idx="3" type="subTitle"/>
          </p:nvPr>
        </p:nvSpPr>
        <p:spPr>
          <a:xfrm>
            <a:off x="6384450" y="1095325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1"/>
          <p:cNvSpPr txBox="1"/>
          <p:nvPr>
            <p:ph idx="4" type="body"/>
          </p:nvPr>
        </p:nvSpPr>
        <p:spPr>
          <a:xfrm>
            <a:off x="286425" y="2475750"/>
            <a:ext cx="4290600" cy="194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bytes_sum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Total traffic exchanged (Original bytes + Response bytes).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bytes_ratio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Ratio of data sent vs. data received (Indicates potential unidirectional data exfiltration or scanning).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duration_log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Log of the flow time (Normalizes timing data to prevent outliers from dominating).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tls_version_num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Converts the text TLS version (e.g., TLSv12) into a number (1.2).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resumed_flag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 Binary flag (0/1) showing if the connection used a resumed TLS session.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3 continued…</a:t>
            </a:r>
            <a:endParaRPr/>
          </a:p>
        </p:txBody>
      </p:sp>
      <p:sp>
        <p:nvSpPr>
          <p:cNvPr id="678" name="Google Shape;678;p7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key features</a:t>
            </a:r>
            <a:endParaRPr/>
          </a:p>
        </p:txBody>
      </p:sp>
      <p:sp>
        <p:nvSpPr>
          <p:cNvPr id="679" name="Google Shape;679;p71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0" name="Google Shape;680;p71" title="Screenshot 2025-12-10 133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625" y="261874"/>
            <a:ext cx="4077377" cy="233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1" title="Screenshot 2025-12-10 1330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601" y="3619650"/>
            <a:ext cx="4499200" cy="12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2"/>
          <p:cNvSpPr txBox="1"/>
          <p:nvPr>
            <p:ph idx="1" type="body"/>
          </p:nvPr>
        </p:nvSpPr>
        <p:spPr>
          <a:xfrm>
            <a:off x="286425" y="2475750"/>
            <a:ext cx="5622600" cy="249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Random Forest Classifier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acts like a group that votes whether something is malicious (1) or benign (0)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fed numerical features such as bytes_ratio, duration, tls_version_num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outputs rf_score (probability of being malicious) and rf_pred (final 0/1 prediction)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Training and Generalization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Data Split: dataset split into 70% for training (learning the patterns) and 30% for testing its performance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ML model looks at the traffic classified as malicious from heuristic label, but goes a step further to look at other features of that traffic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Evaluation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Confusion matrix: shows where the model succeeded and failed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classification report: shows final scores (precision and recall)</a:t>
            </a:r>
            <a:endParaRPr/>
          </a:p>
        </p:txBody>
      </p:sp>
      <p:sp>
        <p:nvSpPr>
          <p:cNvPr id="687" name="Google Shape;687;p7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4:</a:t>
            </a:r>
            <a:endParaRPr/>
          </a:p>
        </p:txBody>
      </p:sp>
      <p:sp>
        <p:nvSpPr>
          <p:cNvPr id="688" name="Google Shape;688;p72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Training &amp; Evaluation</a:t>
            </a:r>
            <a:endParaRPr/>
          </a:p>
        </p:txBody>
      </p:sp>
      <p:sp>
        <p:nvSpPr>
          <p:cNvPr id="689" name="Google Shape;689;p72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2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72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2" name="Google Shape;692;p72" title="Screenshot 2025-12-10 1414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450" y="799099"/>
            <a:ext cx="3583124" cy="18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98" name="Google Shape;698;p7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99" name="Google Shape;699;p73"/>
          <p:cNvSpPr txBox="1"/>
          <p:nvPr>
            <p:ph idx="3" type="body"/>
          </p:nvPr>
        </p:nvSpPr>
        <p:spPr>
          <a:xfrm>
            <a:off x="286425" y="2475750"/>
            <a:ext cx="5878800" cy="231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Purpose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Store and analyze large volumes of network security data efficiently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Enable fast searching, filtering, and visualization of network activity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How We Integrated Elasticsearch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Converted parsed Zeek session data into Elasticsearch-ready CSV format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Defined structured fields for: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IP addresses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Ports and protocols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Connection duration and byte counts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Security labels and prediction scores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Imported the dataset into Elasticsearch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We then made graphs with the information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5:</a:t>
            </a:r>
            <a:endParaRPr/>
          </a:p>
        </p:txBody>
      </p:sp>
      <p:sp>
        <p:nvSpPr>
          <p:cNvPr id="701" name="Google Shape;701;p73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with Elasticsearch</a:t>
            </a:r>
            <a:endParaRPr/>
          </a:p>
        </p:txBody>
      </p:sp>
      <p:sp>
        <p:nvSpPr>
          <p:cNvPr id="702" name="Google Shape;702;p73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703" name="Google Shape;703;p73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Kibana Dashboard &amp; Data Visualization </a:t>
            </a:r>
            <a:endParaRPr/>
          </a:p>
        </p:txBody>
      </p:sp>
      <p:sp>
        <p:nvSpPr>
          <p:cNvPr id="709" name="Google Shape;709;p74"/>
          <p:cNvSpPr txBox="1"/>
          <p:nvPr>
            <p:ph idx="1" type="body"/>
          </p:nvPr>
        </p:nvSpPr>
        <p:spPr>
          <a:xfrm>
            <a:off x="423200" y="3340575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7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6:</a:t>
            </a:r>
            <a:endParaRPr/>
          </a:p>
        </p:txBody>
      </p:sp>
      <p:sp>
        <p:nvSpPr>
          <p:cNvPr id="711" name="Google Shape;711;p7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12" name="Google Shape;712;p7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713" name="Google Shape;713;p74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714" name="Google Shape;714;p74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15" name="Google Shape;715;p74" title="Screenshot 2025-12-09 1519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39" y="2567200"/>
            <a:ext cx="3518636" cy="24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74" title="Screenshot 2025-12-09 1519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875" y="2794150"/>
            <a:ext cx="3190624" cy="22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74" title="Screenshot 2025-12-09 1519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2068" y="162300"/>
            <a:ext cx="2901608" cy="19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5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75"/>
          <p:cNvSpPr txBox="1"/>
          <p:nvPr>
            <p:ph type="title"/>
          </p:nvPr>
        </p:nvSpPr>
        <p:spPr>
          <a:xfrm>
            <a:off x="87475" y="-2704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6 cont’d</a:t>
            </a:r>
            <a:endParaRPr/>
          </a:p>
        </p:txBody>
      </p:sp>
      <p:pic>
        <p:nvPicPr>
          <p:cNvPr id="724" name="Google Shape;724;p75" title="Screenshot 2025-12-09 1520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625" y="1847500"/>
            <a:ext cx="4099651" cy="3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6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30" name="Google Shape;730;p7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31" name="Google Shape;731;p7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732" name="Google Shape;732;p7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